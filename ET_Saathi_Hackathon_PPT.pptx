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68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657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515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7373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4231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3657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10515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7373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4231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657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0515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7373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4231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657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0515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7373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4231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3657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0515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7373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2423160"/>
            <a:ext cx="64008" cy="64008"/>
          </a:xfrm>
          <a:prstGeom prst="ellipse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7472"/>
            <a:ext cx="713232" cy="7132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✦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261872" y="411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53E3E"/>
                </a:solidFill>
              </a:rPr>
              <a:t>ET SAATHI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704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AI Concierge for Economic Times  •  ET AI Hackathon 2026  •  PS7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13258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India's 14 Crore+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411480" y="20574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Demat Accounts.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411480" y="278892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i="1" dirty="0">
                <a:solidFill>
                  <a:srgbClr val="E53E3E"/>
                </a:solidFill>
              </a:rPr>
              <a:t>Flying Blind.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411480" y="373075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</a:rPr>
              <a:t>ET Saathi — an AI concierge that understands who you are in one conversation and maps you to everything ET can do for you.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4315968"/>
            <a:ext cx="841248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✦ Innovation &amp; Creativity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3172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✦ Technical Implementation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✦ Feasibility &amp; Scalability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8932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✦ Relevance to PS7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40664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✦ Documentation Quality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RELEVANCE TO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PS7 requires 4 sub-features. ET Saathi delivers all 4.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84582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69848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247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53E3E"/>
                </a:solidFill>
              </a:rPr>
              <a:t>WELCOME CONCIERGE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AI voice or chat agent — smart 3-min profiling → maps to right ET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16128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179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</a:rPr>
              <a:t> profiling_agent.py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Quick-reply buttons, typewriter animation, Hindi voice (Web Speech API hi-IN), retry logic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002536"/>
            <a:ext cx="84582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002536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3B82F6"/>
                </a:solidFill>
              </a:rPr>
              <a:t>FINANCIAL LIFE NAVIGATOR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Deep conversational AI — understands complete financial life, guides to ET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0939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finance_agent.py + health_score_agent.py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LLaMA 3.3 70B, 0-100 health score, 5-dimension breakdown, portfolio gap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935224"/>
            <a:ext cx="84582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935224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9900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0B981"/>
                </a:solidFill>
              </a:rPr>
              <a:t>CROSS-SELL ENGINE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Proactively identifies cross-sell/upsell opportunities based on behavior &amp; profile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02666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044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cross_sell_agent.py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3282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Detects which ET products user doesn't have, suggests 2 personalized alternatives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867912"/>
            <a:ext cx="8458200" cy="804672"/>
          </a:xfrm>
          <a:prstGeom prst="rect">
            <a:avLst/>
          </a:prstGeom>
          <a:solidFill>
            <a:srgbClr val="FAF5FF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86791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22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B5CF6"/>
                </a:solidFill>
              </a:rPr>
              <a:t>SERVICES MARKETPLACE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" y="4123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Conversational AI for financial services — credit cards, loans, insurance, wealth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395935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977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 ad_campaign_agent.py + RAG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4215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7 ET ad campaigns scored against profile, LLM-generated taglines, native card UI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</a:rPr>
              <a:t>01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INNOVATION &amp; CREATIVITY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46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Not a chatbot wrapper. A coordinated multi-agent intelligence system.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834640" cy="1508760"/>
          </a:xfrm>
          <a:prstGeom prst="rect">
            <a:avLst/>
          </a:prstGeom>
          <a:solidFill>
            <a:srgbClr val="101828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834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384048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Model Routing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LLaMA 3.3 70B for complex reasoning (profiling, finance advice, gap analysis). LLaMA 3.1 8B for fast simple tasks (routing, scoring, cross-sell). Cost-efficient architecture.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1097280"/>
            <a:ext cx="2834640" cy="1508760"/>
          </a:xfrm>
          <a:prstGeom prst="rect">
            <a:avLst/>
          </a:prstGeom>
          <a:solidFill>
            <a:srgbClr val="0A1A10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834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88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3355848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9385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Real ET RSS feeds fetched at startup. sentence-transformers (all-MiniLM-L6-v2) + FAISS vector index. Semantic search returns relevant ET articles alongside AI answers.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9632" y="1097280"/>
            <a:ext cx="2834640" cy="1508760"/>
          </a:xfrm>
          <a:prstGeom prst="rect">
            <a:avLst/>
          </a:prstGeom>
          <a:solidFill>
            <a:srgbClr val="141008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097280"/>
            <a:ext cx="2834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188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6327648" y="16184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Market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19385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yfinance API — real SENSEX, NIFTY, 10 NSE stocks. Recharts sparklines auto-update every 30s. Zero mock data. Indices, gainers, Gold, USD/INR.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761488"/>
            <a:ext cx="2834640" cy="1508760"/>
          </a:xfrm>
          <a:prstGeom prst="rect">
            <a:avLst/>
          </a:prstGeom>
          <a:solidFill>
            <a:srgbClr val="130A1A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256032" y="2761488"/>
            <a:ext cx="28346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52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3" name="Text 21"/>
          <p:cNvSpPr/>
          <p:nvPr/>
        </p:nvSpPr>
        <p:spPr>
          <a:xfrm>
            <a:off x="384048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Native Ad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6027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7 ET campaigns scored via rule-based + LLM. Custom taglines generated per user profile. Shown as ET-native content cards — not banners.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2761488"/>
            <a:ext cx="2834640" cy="1508760"/>
          </a:xfrm>
          <a:prstGeom prst="rect">
            <a:avLst/>
          </a:prstGeom>
          <a:solidFill>
            <a:srgbClr val="0A1418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2761488"/>
            <a:ext cx="28346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852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8" name="Text 26"/>
          <p:cNvSpPr/>
          <p:nvPr/>
        </p:nvSpPr>
        <p:spPr>
          <a:xfrm>
            <a:off x="3355848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Hindi Voice Input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6027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Web Speech API with hi-IN locale. User speaks in Hindi — live transcript feeds into profiling agent. No external API needed.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99632" y="2761488"/>
            <a:ext cx="2834640" cy="1508760"/>
          </a:xfrm>
          <a:prstGeom prst="rect">
            <a:avLst/>
          </a:prstGeom>
          <a:solidFill>
            <a:srgbClr val="180A0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6199632" y="2761488"/>
            <a:ext cx="283464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852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3" name="Text 31"/>
          <p:cNvSpPr/>
          <p:nvPr/>
        </p:nvSpPr>
        <p:spPr>
          <a:xfrm>
            <a:off x="6327648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Retry Logic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27648" y="36027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Exponential backoff wrapper (3 retries, 0.5s delay). Each agent has typed fallback responses. System never crashes on API failure.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44444"/>
                </a:solidFill>
              </a:rPr>
              <a:t>02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TECHNICAL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6 specialized agents. Real APIs. Production-grade architecture.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1353312" cy="1115568"/>
          </a:xfrm>
          <a:prstGeom prst="rect">
            <a:avLst/>
          </a:prstGeom>
          <a:solidFill>
            <a:srgbClr val="FEF2F2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78992"/>
            <a:ext cx="1353312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Orchestrator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Routes to 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64208" y="1481328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3E3E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078992"/>
            <a:ext cx="1353312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078992"/>
            <a:ext cx="135331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Profiling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10512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Extract profile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481328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3E3E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2112" y="1078992"/>
            <a:ext cx="1353312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078992"/>
            <a:ext cx="135331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Routing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55264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Map → ET products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3712" y="1481328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3E3E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1078992"/>
            <a:ext cx="1353312" cy="1115568"/>
          </a:xfrm>
          <a:prstGeom prst="rect">
            <a:avLst/>
          </a:prstGeom>
          <a:solidFill>
            <a:srgbClr val="FAF5FF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78992"/>
            <a:ext cx="1353312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Finance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0016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Advice + 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98464" y="1481328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3E3E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1616" y="1078992"/>
            <a:ext cx="1353312" cy="1115568"/>
          </a:xfrm>
          <a:prstGeom prst="rect">
            <a:avLst/>
          </a:prstGeom>
          <a:solidFill>
            <a:srgbClr val="FFF7ED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1078992"/>
            <a:ext cx="13533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Gap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Portfolio gaps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43216" y="1481328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3E3E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16368" y="1078992"/>
            <a:ext cx="1353312" cy="1115568"/>
          </a:xfrm>
          <a:prstGeom prst="rect">
            <a:avLst/>
          </a:prstGeom>
          <a:solidFill>
            <a:srgbClr val="F0FDFA"/>
          </a:solidFill>
          <a:ln w="12700">
            <a:solidFill>
              <a:srgbClr val="EFEF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16368" y="1078992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11704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</a:rPr>
              <a:t>Cross-Sell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89520" y="15087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Upsell opps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3E3E"/>
                </a:solidFill>
              </a:rPr>
              <a:t>FULL TECH STACK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265176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651760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26517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Frontend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73352" y="26517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React 18 + Tailwind CSS + Recharts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15468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3154680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3154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Backend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73352" y="31546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FastAPI (Python 3.10) + Uvicorn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365760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3657600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3657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LLM Large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73352" y="36576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Groq LLaMA 3.3 70B — complex tasks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7472" y="416052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4160520"/>
            <a:ext cx="5486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" y="41605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LLM Small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673352" y="41605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Groq LLaMA 3.1 8B — fast simple tasks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82312" y="265176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312" y="2651760"/>
            <a:ext cx="54864" cy="42062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26517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</a:rPr>
              <a:t>RAG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08192" y="26517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sentence-transformers + FAISS + ET RSS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82312" y="315468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82312" y="3154680"/>
            <a:ext cx="5486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31546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Market API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08192" y="31546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yfinance — real NSE/BSE live data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82312" y="365760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82312" y="3657600"/>
            <a:ext cx="54864" cy="42062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9472" y="3657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</a:rPr>
              <a:t>Memory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08192" y="36576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JSON store → Redis-ready architecture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82312" y="4160520"/>
            <a:ext cx="4224528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82312" y="4160520"/>
            <a:ext cx="54864" cy="42062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41605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Retry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08192" y="41605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Exponential backoff, 3 retries per agent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FEASIBILITY &amp; SCALABILITY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46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Production-ready today. Scales to 14 crore users tomorrow.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FEASIBILITY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4160520" cy="685800"/>
          </a:xfrm>
          <a:prstGeom prst="rect">
            <a:avLst/>
          </a:prstGeom>
          <a:solidFill>
            <a:srgbClr val="0C1F14"/>
          </a:solidFill>
          <a:ln w="12700">
            <a:solidFill>
              <a:srgbClr val="183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53312"/>
            <a:ext cx="457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Working prototype — full flow live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Chat → Profile → Dashboard → Market Data → Finance Q&amp;A. Zero broken steps.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2157984"/>
            <a:ext cx="4160520" cy="685800"/>
          </a:xfrm>
          <a:prstGeom prst="rect">
            <a:avLst/>
          </a:prstGeom>
          <a:solidFill>
            <a:srgbClr val="0C1F14"/>
          </a:solidFill>
          <a:ln w="12700">
            <a:solidFill>
              <a:srgbClr val="183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157984"/>
            <a:ext cx="457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100% free stack — zero paid APIs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Groq (100k tokens/day free), yfinance (free), ET RSS (free), FAISS (open source).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962656"/>
            <a:ext cx="4160520" cy="685800"/>
          </a:xfrm>
          <a:prstGeom prst="rect">
            <a:avLst/>
          </a:prstGeom>
          <a:solidFill>
            <a:srgbClr val="0C1F14"/>
          </a:solidFill>
          <a:ln w="12700">
            <a:solidFill>
              <a:srgbClr val="183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62656"/>
            <a:ext cx="457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26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ML training required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Pre-trained LLaMA via Groq API. sentence-transformers pre-trained model for RAG.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767328"/>
            <a:ext cx="4160520" cy="685800"/>
          </a:xfrm>
          <a:prstGeom prst="rect">
            <a:avLst/>
          </a:prstGeom>
          <a:solidFill>
            <a:srgbClr val="0C1F14"/>
          </a:solidFill>
          <a:ln w="12700">
            <a:solidFill>
              <a:srgbClr val="183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767328"/>
            <a:ext cx="457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8313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 ET data — not mock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Live NSE prices, real ET RSS articles, AI-generated personalized content.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10515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1353312"/>
            <a:ext cx="4160520" cy="685800"/>
          </a:xfrm>
          <a:prstGeom prst="rect">
            <a:avLst/>
          </a:prstGeom>
          <a:solidFill>
            <a:srgbClr val="0C1525"/>
          </a:solidFill>
          <a:ln w="12700">
            <a:solidFill>
              <a:srgbClr val="18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1353312"/>
            <a:ext cx="4572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417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Stateless agent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Each agent is independent. Scale horizontally — add agents without refactoring core.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6592" y="2157984"/>
            <a:ext cx="4160520" cy="685800"/>
          </a:xfrm>
          <a:prstGeom prst="rect">
            <a:avLst/>
          </a:prstGeom>
          <a:solidFill>
            <a:srgbClr val="0C1525"/>
          </a:solidFill>
          <a:ln w="12700">
            <a:solidFill>
              <a:srgbClr val="1825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157984"/>
            <a:ext cx="4572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Multi-language in 1 line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Hindi voice live. Tamil/Telugu/Bengali = change Speech API lang code. Framework ready.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2962656"/>
            <a:ext cx="4160520" cy="685800"/>
          </a:xfrm>
          <a:prstGeom prst="rect">
            <a:avLst/>
          </a:prstGeom>
          <a:solidFill>
            <a:srgbClr val="0C1525"/>
          </a:solidFill>
          <a:ln w="12700">
            <a:solidFill>
              <a:srgbClr val="18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962656"/>
            <a:ext cx="4572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26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14 Cr user architecture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In-memory → Redis sessions. JSON memory → MongoDB Atlas. Same code, bigger infra.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3767328"/>
            <a:ext cx="4160520" cy="685800"/>
          </a:xfrm>
          <a:prstGeom prst="rect">
            <a:avLst/>
          </a:prstGeom>
          <a:solidFill>
            <a:srgbClr val="0C1525"/>
          </a:solidFill>
          <a:ln w="12700">
            <a:solidFill>
              <a:srgbClr val="1825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3767328"/>
            <a:ext cx="4572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8313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RAG auto-refreshes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64608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</a:rPr>
              <a:t>ET articles re-indexed per server start. Add more RSS feeds by adding 1 URL to list.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44444"/>
                </a:solidFill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IMPACT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Quantified business impact with conservative assumptions.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E3E"/>
                </a:solidFill>
              </a:rPr>
              <a:t>10%→60%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Product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Per user session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24128"/>
            <a:ext cx="201168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24128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133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3 min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Onboarding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vs 15+ min manual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024128"/>
            <a:ext cx="201168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24128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133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3x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1772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Cross-sell Lift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vs generic homepage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024128"/>
            <a:ext cx="201168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24128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33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</a:rPr>
              <a:t>40%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6656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Retention Lift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Personalised users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3408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53E3E"/>
                </a:solidFill>
              </a:rPr>
              <a:t>ASSUMPTIONS &amp; SOURCES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633472"/>
          <a:ext cx="845820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UX lifts engagement 5-6x over one-size-fits-all homepage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UX Report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 reduces 15-min manual onboarding to 3-min profiling conversation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estimate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engines lift conversion 2-5x (Amazon, Netflix baseline)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 Digital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apps retain 40% more users at 30-day mark vs generic feed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Mixpanel Benchmark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1371600" cy="1371600"/>
          </a:xfrm>
          <a:prstGeom prst="rect">
            <a:avLst/>
          </a:prstGeom>
          <a:solidFill>
            <a:srgbClr val="CC2020"/>
          </a:solidFill>
          <a:ln w="12700">
            <a:solidFill>
              <a:srgbClr val="CC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</a:rPr>
              <a:t>✦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</a:rPr>
              <a:t>ET SAATHI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" y="3410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AAAA"/>
                </a:solidFill>
              </a:rPr>
              <a:t>AI Concierge for 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" y="3712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888"/>
                </a:solidFill>
              </a:rPr>
              <a:t>ET AI Hackathon 2026  •  PS7   By  Jitendra Bansal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55835" y="2715768"/>
            <a:ext cx="4956048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50792" y="271576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https://github.com/Jbansal2/et-ai-concierge  •  Problem Statement 7  •  ET AI Hackathon 2026</a:t>
            </a:r>
            <a:endParaRPr lang="en-US" sz="8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DB16D9-852B-10F5-A243-78E792E5B90C}"/>
              </a:ext>
            </a:extLst>
          </p:cNvPr>
          <p:cNvSpPr txBox="1"/>
          <p:nvPr/>
        </p:nvSpPr>
        <p:spPr>
          <a:xfrm>
            <a:off x="4010347" y="2016872"/>
            <a:ext cx="4575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kern="0" spc="300" dirty="0" err="1">
                <a:solidFill>
                  <a:srgbClr val="FFFFFF"/>
                </a:solidFill>
              </a:rPr>
              <a:t>ThankYou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897</Words>
  <Application>Microsoft Office PowerPoint</Application>
  <PresentationFormat>On-screen Show (16:9)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Saathi — ET AI Hackathon 2026</dc:title>
  <dc:subject>PptxGenJS Presentation</dc:subject>
  <dc:creator>PptxGenJS</dc:creator>
  <cp:lastModifiedBy>Jitendra Bansal</cp:lastModifiedBy>
  <cp:revision>3</cp:revision>
  <dcterms:created xsi:type="dcterms:W3CDTF">2026-03-27T16:22:29Z</dcterms:created>
  <dcterms:modified xsi:type="dcterms:W3CDTF">2026-03-28T21:06:39Z</dcterms:modified>
</cp:coreProperties>
</file>